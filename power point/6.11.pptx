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1198880" y="746760"/>
            <a:ext cx="1873885" cy="401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nvbit_at_init()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62255" y="1310005"/>
            <a:ext cx="386778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 sz="1600"/>
              <a:t>进程一启动，最先被调用</a:t>
            </a:r>
            <a:endParaRPr lang="zh-CN" altLang="zh-CN" sz="1600"/>
          </a:p>
          <a:p>
            <a:pPr algn="ctr"/>
            <a:r>
              <a:rPr lang="zh-CN" altLang="zh-CN" sz="1600"/>
              <a:t>（读取环境变量，数据结构初始化</a:t>
            </a:r>
            <a:r>
              <a:rPr lang="zh-CN" altLang="zh-CN"/>
              <a:t>）</a:t>
            </a:r>
            <a:endParaRPr lang="zh-CN" altLang="zh-CN"/>
          </a:p>
        </p:txBody>
      </p:sp>
      <p:sp>
        <p:nvSpPr>
          <p:cNvPr id="4" name="矩形 3"/>
          <p:cNvSpPr/>
          <p:nvPr/>
        </p:nvSpPr>
        <p:spPr>
          <a:xfrm>
            <a:off x="7628890" y="5404485"/>
            <a:ext cx="1873885" cy="401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nvbit_at_term()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728460" y="5996305"/>
            <a:ext cx="38677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/>
              <a:t>进程退出前最后被调用</a:t>
            </a:r>
            <a:br>
              <a:rPr lang="zh-CN" altLang="zh-CN"/>
            </a:br>
            <a:r>
              <a:rPr lang="zh-CN" altLang="zh-CN"/>
              <a:t>（写回数据，打印，释放</a:t>
            </a:r>
            <a:r>
              <a:rPr lang="en-US" altLang="zh-CN"/>
              <a:t>Host</a:t>
            </a:r>
            <a:r>
              <a:rPr lang="zh-CN" altLang="en-US"/>
              <a:t>资源</a:t>
            </a:r>
            <a:r>
              <a:rPr lang="zh-CN" altLang="zh-CN"/>
              <a:t>）</a:t>
            </a:r>
            <a:endParaRPr lang="zh-CN" altLang="zh-CN"/>
          </a:p>
        </p:txBody>
      </p:sp>
      <p:sp>
        <p:nvSpPr>
          <p:cNvPr id="6" name="矩形 5"/>
          <p:cNvSpPr/>
          <p:nvPr/>
        </p:nvSpPr>
        <p:spPr>
          <a:xfrm>
            <a:off x="262255" y="2085340"/>
            <a:ext cx="3972560" cy="401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nvbit_at_ctx_init(CUcontext ctx)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262255" y="2659380"/>
            <a:ext cx="38677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/>
              <a:t>新的 CUDA 上下文创建成功，立即</a:t>
            </a:r>
            <a:r>
              <a:rPr lang="zh-CN" altLang="zh-CN"/>
              <a:t>调用</a:t>
            </a:r>
            <a:endParaRPr lang="zh-CN" altLang="zh-CN"/>
          </a:p>
        </p:txBody>
      </p:sp>
      <p:sp>
        <p:nvSpPr>
          <p:cNvPr id="8" name="矩形 7"/>
          <p:cNvSpPr/>
          <p:nvPr/>
        </p:nvSpPr>
        <p:spPr>
          <a:xfrm>
            <a:off x="464185" y="3632835"/>
            <a:ext cx="3972560" cy="401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nvbit_at_ctx_</a:t>
            </a:r>
            <a:r>
              <a:rPr lang="en-US" altLang="zh-CN"/>
              <a:t>term(CUcontext ctx)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464185" y="4206875"/>
            <a:ext cx="3867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/>
              <a:t>销毁前</a:t>
            </a:r>
            <a:r>
              <a:rPr lang="zh-CN" altLang="zh-CN"/>
              <a:t>调用</a:t>
            </a:r>
            <a:endParaRPr lang="zh-CN" altLang="zh-CN"/>
          </a:p>
        </p:txBody>
      </p:sp>
      <p:sp>
        <p:nvSpPr>
          <p:cNvPr id="10" name="矩形 9"/>
          <p:cNvSpPr/>
          <p:nvPr/>
        </p:nvSpPr>
        <p:spPr>
          <a:xfrm>
            <a:off x="464185" y="5099050"/>
            <a:ext cx="3972560" cy="401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nvbit_tool_init(CUcontext ctx)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64185" y="5673090"/>
            <a:ext cx="38677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/>
              <a:t>在第一次 kernel 启动之前”被调用</a:t>
            </a:r>
            <a:br>
              <a:rPr lang="zh-CN" altLang="zh-CN"/>
            </a:br>
            <a:r>
              <a:rPr lang="zh-CN" altLang="zh-CN"/>
              <a:t>CUDA 调用</a:t>
            </a:r>
            <a:endParaRPr lang="zh-CN" altLang="zh-CN"/>
          </a:p>
        </p:txBody>
      </p:sp>
      <p:sp>
        <p:nvSpPr>
          <p:cNvPr id="12" name="矩形 11"/>
          <p:cNvSpPr/>
          <p:nvPr/>
        </p:nvSpPr>
        <p:spPr>
          <a:xfrm>
            <a:off x="5718810" y="435610"/>
            <a:ext cx="6060440" cy="922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nvbit_at_cuda_event(CUcontext ctx, int is_exit, nvbit_api_cuda_t cbid, const char event_name, void params, CUresult* pStatus)</a:t>
            </a:r>
            <a:endParaRPr lang="en-US" altLang="zh-CN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48375" y="1717040"/>
            <a:ext cx="5401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/>
              <a:t>每次</a:t>
            </a:r>
            <a:r>
              <a:rPr lang="en-US" altLang="zh-CN"/>
              <a:t>CUDA Driver API </a:t>
            </a:r>
            <a:r>
              <a:rPr lang="zh-CN" altLang="en-US"/>
              <a:t>被调用</a:t>
            </a:r>
            <a:r>
              <a:rPr lang="en-US" altLang="zh-CN"/>
              <a:t> </a:t>
            </a:r>
            <a:r>
              <a:rPr lang="zh-CN" altLang="en-US"/>
              <a:t>的入口和出口</a:t>
            </a:r>
            <a:r>
              <a:rPr lang="zh-CN" altLang="en-US"/>
              <a:t>都会触发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765800" y="2557145"/>
            <a:ext cx="6060440" cy="922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nvbit_at_graph_node_launch(CUcontext ctx, CUfunction func, CUstream stream, uint64_t launch_handle)</a:t>
            </a:r>
            <a:endParaRPr lang="en-US" altLang="zh-CN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95365" y="3838575"/>
            <a:ext cx="54013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当 CUDA Graph 中的一个节点要被“实际发射”时调用。它常与 nvbit_set_at_launch() 配合使用：你可以为每个图节点设置不同的工具参数或动态注入策略（例如只对某些节点开启指令级插桩，或给不同节点配置不同的设备端计数器地址）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62255" y="132715"/>
            <a:ext cx="21793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NVBIT</a:t>
            </a:r>
            <a:endParaRPr lang="en-US" altLang="zh-CN" sz="320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262255" y="132715"/>
            <a:ext cx="21793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Driver </a:t>
            </a:r>
            <a:r>
              <a:rPr lang="en-US" altLang="zh-CN" sz="32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API</a:t>
            </a:r>
            <a:endParaRPr lang="en-US" altLang="zh-CN" sz="320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9280" y="1298575"/>
            <a:ext cx="2540000" cy="3683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cuCtxSetCurrent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89280" y="2374265"/>
            <a:ext cx="2540000" cy="3683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cuLibraryLoadData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89280" y="3683635"/>
            <a:ext cx="2540000" cy="3683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cuLibraryGetKernel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89280" y="4805680"/>
            <a:ext cx="2540000" cy="3683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cu</a:t>
            </a:r>
            <a:r>
              <a:rPr lang="en-US" altLang="zh-CN"/>
              <a:t>MemAlloc</a:t>
            </a:r>
            <a:endParaRPr lang="en-US" altLang="zh-CN"/>
          </a:p>
        </p:txBody>
      </p:sp>
      <p:cxnSp>
        <p:nvCxnSpPr>
          <p:cNvPr id="6" name="直接箭头连接符 5"/>
          <p:cNvCxnSpPr>
            <a:stCxn id="2" idx="2"/>
            <a:endCxn id="3" idx="0"/>
          </p:cNvCxnSpPr>
          <p:nvPr/>
        </p:nvCxnSpPr>
        <p:spPr>
          <a:xfrm>
            <a:off x="1859280" y="1666875"/>
            <a:ext cx="0" cy="7073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endCxn id="4" idx="0"/>
          </p:cNvCxnSpPr>
          <p:nvPr/>
        </p:nvCxnSpPr>
        <p:spPr>
          <a:xfrm>
            <a:off x="1859280" y="2742565"/>
            <a:ext cx="0" cy="9410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1859280" y="4074795"/>
            <a:ext cx="0" cy="7073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0755" y="1076960"/>
            <a:ext cx="4086225" cy="21075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060" y="3277235"/>
            <a:ext cx="4549775" cy="11811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880" y="6087110"/>
            <a:ext cx="4672330" cy="50990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880" y="5323840"/>
            <a:ext cx="4496435" cy="5683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86980" y="1489710"/>
            <a:ext cx="419989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/>
              <a:t>这个路径中的</a:t>
            </a:r>
            <a:r>
              <a:rPr lang="en-US" altLang="zh-CN"/>
              <a:t>CUKernel </a:t>
            </a:r>
            <a:r>
              <a:rPr lang="zh-CN" altLang="en-US"/>
              <a:t>可以和</a:t>
            </a:r>
            <a:r>
              <a:rPr lang="en-US" altLang="zh-CN"/>
              <a:t>CUfunc</a:t>
            </a:r>
            <a:r>
              <a:rPr lang="en-US" altLang="zh-CN"/>
              <a:t>tion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强转化</a:t>
            </a:r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 flipH="1" flipV="1">
            <a:off x="3272155" y="3903345"/>
            <a:ext cx="5715" cy="77597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3285490" y="4664710"/>
            <a:ext cx="6198235" cy="7620"/>
          </a:xfrm>
          <a:prstGeom prst="lin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9007475" y="4051935"/>
            <a:ext cx="2926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在进入测就可以获取</a:t>
            </a:r>
            <a:r>
              <a:rPr lang="zh-CN" altLang="en-US"/>
              <a:t>地址了</a:t>
            </a:r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5845" y="4850130"/>
            <a:ext cx="3205480" cy="200025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43255" y="6068695"/>
            <a:ext cx="2540000" cy="3683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culaunch</a:t>
            </a:r>
            <a:r>
              <a:rPr lang="en-US" altLang="zh-CN"/>
              <a:t>Kernel</a:t>
            </a:r>
            <a:endParaRPr lang="en-US" altLang="zh-CN"/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1854200" y="5197475"/>
            <a:ext cx="5080" cy="8432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642620" y="286385"/>
            <a:ext cx="38627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Run decrypt </a:t>
            </a:r>
            <a:r>
              <a:rPr lang="en-US" altLang="zh-CN" sz="32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kernel</a:t>
            </a:r>
            <a:endParaRPr lang="en-US" altLang="zh-CN" sz="320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1530" y="1412240"/>
            <a:ext cx="18630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unsign_64t * </a:t>
            </a:r>
            <a:r>
              <a:rPr lang="en-US" altLang="zh-CN"/>
              <a:t>base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3522980" y="141224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base[i] = base[i] - 1; 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80365" y="915670"/>
            <a:ext cx="5737225" cy="13614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46430" y="1043940"/>
            <a:ext cx="2028190" cy="36830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rtlCol="0">
            <a:spAutoFit/>
          </a:bodyPr>
          <a:p>
            <a:r>
              <a:rPr lang="en-US" altLang="zh-CN"/>
              <a:t>__global__ function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76020" y="2893695"/>
            <a:ext cx="2905760" cy="368300"/>
          </a:xfrm>
          <a:prstGeom prst="rect">
            <a:avLst/>
          </a:prstGeom>
          <a:noFill/>
          <a:ln w="28575" cmpd="sng">
            <a:solidFill>
              <a:schemeClr val="accent2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获取</a:t>
            </a:r>
            <a:r>
              <a:rPr lang="en-US" altLang="zh-CN"/>
              <a:t>Host</a:t>
            </a:r>
            <a:r>
              <a:rPr lang="zh-CN" altLang="en-US"/>
              <a:t>端</a:t>
            </a:r>
            <a:r>
              <a:rPr lang="en-US" altLang="zh-CN"/>
              <a:t>cunbin</a:t>
            </a:r>
            <a:r>
              <a:rPr lang="zh-CN" altLang="en-US"/>
              <a:t>首地址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76020" y="3532505"/>
            <a:ext cx="2905760" cy="645160"/>
          </a:xfrm>
          <a:prstGeom prst="rect">
            <a:avLst/>
          </a:prstGeom>
          <a:noFill/>
          <a:ln w="28575" cmpd="sng">
            <a:solidFill>
              <a:schemeClr val="accent2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/>
              <a:t>cuModuleLoadData </a:t>
            </a:r>
            <a:r>
              <a:rPr lang="zh-CN" altLang="en-US"/>
              <a:t>加载到当前</a:t>
            </a:r>
            <a:r>
              <a:rPr lang="zh-CN" altLang="en-US"/>
              <a:t>上下文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176020" y="4545330"/>
            <a:ext cx="2905760" cy="645160"/>
          </a:xfrm>
          <a:prstGeom prst="rect">
            <a:avLst/>
          </a:prstGeom>
          <a:noFill/>
          <a:ln w="28575" cmpd="sng">
            <a:solidFill>
              <a:schemeClr val="accent2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cuModuleGetFunction获取设备函数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1176020" y="5653405"/>
            <a:ext cx="2905760" cy="645160"/>
          </a:xfrm>
          <a:prstGeom prst="rect">
            <a:avLst/>
          </a:prstGeom>
          <a:noFill/>
          <a:ln w="28575" cmpd="sng">
            <a:solidFill>
              <a:schemeClr val="accent2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/>
              <a:t>cuStreamCreate</a:t>
            </a:r>
            <a:endParaRPr lang="zh-CN" altLang="en-US"/>
          </a:p>
          <a:p>
            <a:pPr algn="ctr"/>
            <a:r>
              <a:rPr lang="en-US" altLang="zh-CN"/>
              <a:t>cu</a:t>
            </a:r>
            <a:r>
              <a:rPr lang="en-US" altLang="zh-CN"/>
              <a:t>Launchkernel</a:t>
            </a:r>
            <a:endParaRPr lang="en-US" altLang="zh-CN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2854325" y="2279015"/>
            <a:ext cx="0" cy="59309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2663825" y="3252470"/>
            <a:ext cx="14605" cy="255905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endCxn id="9" idx="0"/>
          </p:cNvCxnSpPr>
          <p:nvPr/>
        </p:nvCxnSpPr>
        <p:spPr>
          <a:xfrm>
            <a:off x="2621280" y="4201795"/>
            <a:ext cx="7620" cy="343535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9" idx="2"/>
            <a:endCxn id="10" idx="0"/>
          </p:cNvCxnSpPr>
          <p:nvPr/>
        </p:nvCxnSpPr>
        <p:spPr>
          <a:xfrm>
            <a:off x="2628900" y="5190490"/>
            <a:ext cx="0" cy="462915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7845" y="2275205"/>
            <a:ext cx="3627755" cy="34982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32510" y="3854450"/>
            <a:ext cx="1640205" cy="29146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719070" y="4099560"/>
            <a:ext cx="3359785" cy="14814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2621280" y="2496185"/>
            <a:ext cx="3122295" cy="13582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585" y="1555750"/>
            <a:ext cx="3559175" cy="461645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5113655" y="5462270"/>
            <a:ext cx="2741930" cy="47180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7807960" y="1572895"/>
            <a:ext cx="1127125" cy="39223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9029065" y="804545"/>
            <a:ext cx="1844040" cy="490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9029065" y="1294765"/>
            <a:ext cx="1844040" cy="490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9029065" y="1784985"/>
            <a:ext cx="1844040" cy="490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9315450" y="299085"/>
            <a:ext cx="11087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Host_part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9104630" y="3288030"/>
            <a:ext cx="1844040" cy="490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9104630" y="3778250"/>
            <a:ext cx="1844040" cy="4902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23" name="矩形 22"/>
          <p:cNvSpPr/>
          <p:nvPr/>
        </p:nvSpPr>
        <p:spPr>
          <a:xfrm>
            <a:off x="9104630" y="4268470"/>
            <a:ext cx="1844040" cy="490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9391015" y="2782570"/>
            <a:ext cx="13017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Device_part</a:t>
            </a:r>
            <a:endParaRPr lang="en-US" altLang="zh-CN"/>
          </a:p>
        </p:txBody>
      </p:sp>
      <p:sp>
        <p:nvSpPr>
          <p:cNvPr id="25" name="矩形 24"/>
          <p:cNvSpPr/>
          <p:nvPr/>
        </p:nvSpPr>
        <p:spPr>
          <a:xfrm>
            <a:off x="9104630" y="4758690"/>
            <a:ext cx="1844040" cy="4902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26" name="矩形 25"/>
          <p:cNvSpPr/>
          <p:nvPr/>
        </p:nvSpPr>
        <p:spPr>
          <a:xfrm>
            <a:off x="9104630" y="5248910"/>
            <a:ext cx="1844040" cy="490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10968990" y="3300095"/>
            <a:ext cx="570865" cy="6985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10971530" y="4268470"/>
            <a:ext cx="570865" cy="6985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10999470" y="5264150"/>
            <a:ext cx="570865" cy="6985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240,&quot;width&quot;:336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946</Words>
  <Application>WPS 演示</Application>
  <PresentationFormat>宽屏</PresentationFormat>
  <Paragraphs>86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 hui</dc:creator>
  <cp:lastModifiedBy>94057</cp:lastModifiedBy>
  <cp:revision>7</cp:revision>
  <dcterms:created xsi:type="dcterms:W3CDTF">2025-11-05T22:09:00Z</dcterms:created>
  <dcterms:modified xsi:type="dcterms:W3CDTF">2025-11-05T23:38:20Z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9F26F2A9E5F4419FB4BE3335B05539F6</vt:lpwstr>
  </property>
  <property fmtid="{D5CDD505-2E9C-101B-9397-08002B2CF9AE}" pid="3" name="KSOProductBuildVer">
    <vt:lpwstr>2052-11.1.0.10943</vt:lpwstr>
  </property>
</Properties>
</file>